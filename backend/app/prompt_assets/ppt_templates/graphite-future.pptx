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229600" y="-457200"/>
            <a:ext cx="3840480" cy="384048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589520" y="1097280"/>
            <a:ext cx="3566160" cy="2743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46720" y="1417320"/>
            <a:ext cx="2377440" cy="2743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685800"/>
            <a:ext cx="137160" cy="539496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971800"/>
            <a:ext cx="67665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100" b="1">
                <a:solidFill>
                  <a:srgbClr val="FAFAFA"/>
                </a:solidFill>
                <a:latin typeface="PingFang SC"/>
              </a:rPr>
              <a:t>人工智能前沿技术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3730752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A78BFA"/>
                </a:solidFill>
                <a:latin typeface="PingFang SC"/>
              </a:rPr>
              <a:t>Deep Research ·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960120"/>
            <a:ext cx="27432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A78BFA"/>
                </a:solidFill>
                <a:latin typeface="PingFang SC"/>
              </a:rPr>
              <a:t>铅灰未来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5897880"/>
            <a:ext cx="4572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FAFAFA"/>
                </a:solidFill>
                <a:latin typeface="PingFang SC"/>
              </a:rPr>
              <a:t>DataAgent Template · Editable PPTX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AFAFA"/>
                </a:solidFill>
                <a:latin typeface="PingFang SC"/>
              </a:rPr>
              <a:t>一个清晰结论放在页面顶部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143000"/>
            <a:ext cx="3657600" cy="4892040"/>
          </a:xfrm>
          <a:prstGeom prst="round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26280" y="1143000"/>
            <a:ext cx="3200400" cy="2240280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001000" y="1143000"/>
            <a:ext cx="3566160" cy="4892040"/>
          </a:xfrm>
          <a:prstGeom prst="round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0876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A78BFA"/>
                </a:solidFill>
                <a:latin typeface="PingFang SC"/>
              </a:rPr>
              <a:t>核心洞察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57400"/>
            <a:ext cx="2743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FAFAFA"/>
                </a:solidFill>
                <a:latin typeface="PingFang SC"/>
              </a:rPr>
              <a:t>1. 关键事实支撑结论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715768"/>
            <a:ext cx="2743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FAFAFA"/>
                </a:solidFill>
                <a:latin typeface="PingFang SC"/>
              </a:rPr>
              <a:t>2. 拆分指标与趋势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374136"/>
            <a:ext cx="2743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FAFAFA"/>
                </a:solidFill>
                <a:latin typeface="PingFang SC"/>
              </a:rPr>
              <a:t>3. 给出下一步动作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2040" y="1627632"/>
            <a:ext cx="1828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FAFAFA"/>
                </a:solidFill>
                <a:latin typeface="PingFang SC"/>
              </a:rPr>
              <a:t>68%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83480" y="25146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FAFAFA"/>
                </a:solidFill>
                <a:latin typeface="PingFang SC"/>
              </a:rPr>
              <a:t>关键指标示例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0" y="4343400"/>
            <a:ext cx="329184" cy="914400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006840" y="3840480"/>
            <a:ext cx="329184" cy="1417320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601200" y="3383280"/>
            <a:ext cx="329184" cy="1874519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195559" y="4023360"/>
            <a:ext cx="329184" cy="1234440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1600200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A78BFA"/>
                </a:solidFill>
                <a:latin typeface="PingFang SC"/>
              </a:rPr>
              <a:t>图表 / 图片区域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2148840"/>
            <a:ext cx="26517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FAFAFA"/>
                </a:solidFill>
                <a:latin typeface="PingFang SC"/>
              </a:rPr>
              <a:t>保留可编辑文本框、图表占位、卡片区块和页眉规则。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5943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AFAFA"/>
                </a:solidFill>
                <a:latin typeface="PingFang SC"/>
              </a:rPr>
              <a:t>行动计划与里程碑</a:t>
            </a:r>
          </a:p>
        </p:txBody>
      </p:sp>
      <p:sp>
        <p:nvSpPr>
          <p:cNvPr id="4" name="Oval 3"/>
          <p:cNvSpPr/>
          <p:nvPr/>
        </p:nvSpPr>
        <p:spPr>
          <a:xfrm>
            <a:off x="914400" y="1965960"/>
            <a:ext cx="502920" cy="50292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25880" y="2194560"/>
            <a:ext cx="1920240" cy="36576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743200"/>
            <a:ext cx="1920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AFAFA"/>
                </a:solidFill>
                <a:latin typeface="PingFang SC"/>
              </a:rPr>
              <a:t>现状诊断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182112"/>
            <a:ext cx="2011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AFAFA"/>
                </a:solidFill>
                <a:latin typeface="PingFang SC"/>
              </a:rPr>
              <a:t>替换为你的项目节点与交付物</a:t>
            </a:r>
          </a:p>
        </p:txBody>
      </p:sp>
      <p:sp>
        <p:nvSpPr>
          <p:cNvPr id="8" name="Oval 7"/>
          <p:cNvSpPr/>
          <p:nvPr/>
        </p:nvSpPr>
        <p:spPr>
          <a:xfrm>
            <a:off x="3657600" y="1965960"/>
            <a:ext cx="502920" cy="50292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069080" y="2194560"/>
            <a:ext cx="1920240" cy="36576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11880" y="2743200"/>
            <a:ext cx="1920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AFAFA"/>
                </a:solidFill>
                <a:latin typeface="PingFang SC"/>
              </a:rPr>
              <a:t>方案设计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3182112"/>
            <a:ext cx="2011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AFAFA"/>
                </a:solidFill>
                <a:latin typeface="PingFang SC"/>
              </a:rPr>
              <a:t>替换为你的项目节点与交付物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0" y="1965960"/>
            <a:ext cx="502920" cy="50292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12280" y="2194560"/>
            <a:ext cx="1920240" cy="36576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2743200"/>
            <a:ext cx="1920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AFAFA"/>
                </a:solidFill>
                <a:latin typeface="PingFang SC"/>
              </a:rPr>
              <a:t>试点验证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3182112"/>
            <a:ext cx="2011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AFAFA"/>
                </a:solidFill>
                <a:latin typeface="PingFang SC"/>
              </a:rPr>
              <a:t>替换为你的项目节点与交付物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0" y="1965960"/>
            <a:ext cx="502920" cy="50292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555480" y="2194560"/>
            <a:ext cx="1920240" cy="36576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98280" y="2743200"/>
            <a:ext cx="1920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AFAFA"/>
                </a:solidFill>
                <a:latin typeface="PingFang SC"/>
              </a:rPr>
              <a:t>规模推广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98280" y="3182112"/>
            <a:ext cx="2011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AFAFA"/>
                </a:solidFill>
                <a:latin typeface="PingFang SC"/>
              </a:rPr>
              <a:t>替换为你的项目节点与交付物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