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365760"/>
            <a:ext cx="2194560" cy="219456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79" y="4297680"/>
            <a:ext cx="3291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85800"/>
            <a:ext cx="137160" cy="53949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71800"/>
            <a:ext cx="67665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0F172A"/>
                </a:solidFill>
                <a:latin typeface="PingFang SC"/>
              </a:rPr>
              <a:t>HEALTH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730752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284C7"/>
                </a:solidFill>
                <a:latin typeface="PingFang SC"/>
              </a:rPr>
              <a:t>Healthcare Innovation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960120"/>
            <a:ext cx="2743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284C7"/>
                </a:solidFill>
                <a:latin typeface="PingFang SC"/>
              </a:rPr>
              <a:t>清风水蓝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58978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0F172A"/>
                </a:solidFill>
                <a:latin typeface="PingFang SC"/>
              </a:rPr>
              <a:t>DataAgent Template · Editable 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PingFang SC"/>
              </a:rPr>
              <a:t>一个清晰结论放在页面顶部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365760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26280" y="1143000"/>
            <a:ext cx="3200400" cy="22402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01000" y="1143000"/>
            <a:ext cx="35661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284C7"/>
                </a:solidFill>
                <a:latin typeface="PingFang SC"/>
              </a:rPr>
              <a:t>核心洞察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PingFang SC"/>
              </a:rPr>
              <a:t>1. 关键事实支撑结论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15768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PingFang SC"/>
              </a:rPr>
              <a:t>2. 拆分指标与趋势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74136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PingFang SC"/>
              </a:rPr>
              <a:t>3. 给出下一步动作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27632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F172A"/>
                </a:solidFill>
                <a:latin typeface="PingFang SC"/>
              </a:rPr>
              <a:t>68%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5146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0F172A"/>
                </a:solidFill>
                <a:latin typeface="PingFang SC"/>
              </a:rPr>
              <a:t>关键指标示例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4343400"/>
            <a:ext cx="329184" cy="9144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06840" y="3840480"/>
            <a:ext cx="329184" cy="1417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0" y="3383280"/>
            <a:ext cx="329184" cy="1874519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95559" y="4023360"/>
            <a:ext cx="329184" cy="12344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6002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284C7"/>
                </a:solidFill>
                <a:latin typeface="PingFang SC"/>
              </a:rPr>
              <a:t>图表 / 图片区域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148840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PingFang SC"/>
              </a:rPr>
              <a:t>保留可编辑文本框、图表占位、卡片区块和页眉规则。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943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PingFang SC"/>
              </a:rPr>
              <a:t>行动计划与里程碑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5880" y="2194560"/>
            <a:ext cx="192024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ingFang SC"/>
              </a:rPr>
              <a:t>现状诊断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82112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F172A"/>
                </a:solidFill>
                <a:latin typeface="PingFang SC"/>
              </a:rPr>
              <a:t>替换为你的项目节点与交付物</a:t>
            </a:r>
          </a:p>
        </p:txBody>
      </p:sp>
      <p:sp>
        <p:nvSpPr>
          <p:cNvPr id="8" name="Oval 7"/>
          <p:cNvSpPr/>
          <p:nvPr/>
        </p:nvSpPr>
        <p:spPr>
          <a:xfrm>
            <a:off x="3657600" y="1965960"/>
            <a:ext cx="502920" cy="50292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69080" y="2194560"/>
            <a:ext cx="192024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7432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ingFang SC"/>
              </a:rPr>
              <a:t>方案设计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182112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F172A"/>
                </a:solidFill>
                <a:latin typeface="PingFang SC"/>
              </a:rPr>
              <a:t>替换为你的项目节点与交付物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1965960"/>
            <a:ext cx="502920" cy="50292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12280" y="2194560"/>
            <a:ext cx="192024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7432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ingFang SC"/>
              </a:rPr>
              <a:t>试点验证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182112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F172A"/>
                </a:solidFill>
                <a:latin typeface="PingFang SC"/>
              </a:rPr>
              <a:t>替换为你的项目节点与交付物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0" y="1965960"/>
            <a:ext cx="502920" cy="50292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55480" y="2194560"/>
            <a:ext cx="192024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27432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PingFang SC"/>
              </a:rPr>
              <a:t>规模推广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3182112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F172A"/>
                </a:solidFill>
                <a:latin typeface="PingFang SC"/>
              </a:rPr>
              <a:t>替换为你的项目节点与交付物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